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74" r:id="rId2"/>
    <p:sldId id="276" r:id="rId3"/>
    <p:sldId id="280" r:id="rId4"/>
    <p:sldId id="278" r:id="rId5"/>
    <p:sldId id="270" r:id="rId6"/>
    <p:sldId id="260" r:id="rId7"/>
    <p:sldId id="273" r:id="rId8"/>
    <p:sldId id="261" r:id="rId9"/>
    <p:sldId id="268" r:id="rId10"/>
    <p:sldId id="267" r:id="rId11"/>
    <p:sldId id="266" r:id="rId12"/>
    <p:sldId id="25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341F0C7-71ED-E8D6-51E4-FF82021D063D}" name="NAKUL UPADHYAY" initials="NU" userId="286b8d30b58a16f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2023" autoAdjust="0"/>
  </p:normalViewPr>
  <p:slideViewPr>
    <p:cSldViewPr snapToGrid="0">
      <p:cViewPr varScale="1">
        <p:scale>
          <a:sx n="76" d="100"/>
          <a:sy n="76" d="100"/>
        </p:scale>
        <p:origin x="573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68FCEC-CDAD-4902-92A3-7349AEAAB9FE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CD4E34-FC0F-478D-9D98-4D0134513A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458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CD4E34-FC0F-478D-9D98-4D0134513A1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092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A3571-BCCD-4EB2-B893-B08585FB30C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7ED81-3321-471F-9CB0-12FFB74BE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067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A3571-BCCD-4EB2-B893-B08585FB30C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7ED81-3321-471F-9CB0-12FFB74BE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231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A3571-BCCD-4EB2-B893-B08585FB30C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7ED81-3321-471F-9CB0-12FFB74BE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801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A3571-BCCD-4EB2-B893-B08585FB30C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7ED81-3321-471F-9CB0-12FFB74BE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144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A3571-BCCD-4EB2-B893-B08585FB30C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7ED81-3321-471F-9CB0-12FFB74BE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00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A3571-BCCD-4EB2-B893-B08585FB30C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7ED81-3321-471F-9CB0-12FFB74BE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984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A3571-BCCD-4EB2-B893-B08585FB30C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7ED81-3321-471F-9CB0-12FFB74BE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849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A3571-BCCD-4EB2-B893-B08585FB30C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7ED81-3321-471F-9CB0-12FFB74BE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279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A3571-BCCD-4EB2-B893-B08585FB30C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7ED81-3321-471F-9CB0-12FFB74BE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5880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A3571-BCCD-4EB2-B893-B08585FB30C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7ED81-3321-471F-9CB0-12FFB74BE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46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A3571-BCCD-4EB2-B893-B08585FB30C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7ED81-3321-471F-9CB0-12FFB74BE709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7326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A3571-BCCD-4EB2-B893-B08585FB30C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7ED81-3321-471F-9CB0-12FFB74BE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840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A3571-BCCD-4EB2-B893-B08585FB30C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7ED81-3321-471F-9CB0-12FFB74BE709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4291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A3571-BCCD-4EB2-B893-B08585FB30C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7ED81-3321-471F-9CB0-12FFB74BE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265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A3571-BCCD-4EB2-B893-B08585FB30C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7ED81-3321-471F-9CB0-12FFB74BE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98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A3571-BCCD-4EB2-B893-B08585FB30C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7ED81-3321-471F-9CB0-12FFB74BE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330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4A3571-BCCD-4EB2-B893-B08585FB30C9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5F7ED81-3321-471F-9CB0-12FFB74BE7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16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C91A2-939B-3735-AD82-39BFE4CE1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AI-Based Emotion Recognition &amp; Mental Health Monitoring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178D0-423C-62E3-B594-067D6642E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62576" y="4629651"/>
            <a:ext cx="7036706" cy="941388"/>
          </a:xfrm>
        </p:spPr>
        <p:txBody>
          <a:bodyPr/>
          <a:lstStyle/>
          <a:p>
            <a:pPr algn="r"/>
            <a:r>
              <a:rPr lang="en-IN" b="1" dirty="0"/>
              <a:t>presented by : Fluffy Debuggers (T7)</a:t>
            </a:r>
          </a:p>
          <a:p>
            <a:pPr algn="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0471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E00AD-3EE3-E2E4-9DCC-85324F2A5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32" y="848634"/>
            <a:ext cx="3932237" cy="809171"/>
          </a:xfrm>
        </p:spPr>
        <p:txBody>
          <a:bodyPr>
            <a:normAutofit fontScale="90000"/>
          </a:bodyPr>
          <a:lstStyle/>
          <a:p>
            <a:br>
              <a:rPr lang="en-US" b="1" u="sng" dirty="0"/>
            </a:br>
            <a:br>
              <a:rPr lang="en-US" b="1" u="sng" dirty="0"/>
            </a:br>
            <a:r>
              <a:rPr lang="en-US" sz="4000" b="1" u="sng" dirty="0"/>
              <a:t>Problem statement</a:t>
            </a:r>
            <a:endParaRPr lang="en-IN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BE5152D-DCCF-053F-B254-518D05A8871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74" b="10974"/>
          <a:stretch>
            <a:fillRect/>
          </a:stretch>
        </p:blipFill>
        <p:spPr>
          <a:xfrm>
            <a:off x="4042228" y="1409438"/>
            <a:ext cx="7952599" cy="384571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C93E86-6B52-9810-F34A-139B52831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0176" y="1917762"/>
            <a:ext cx="3932237" cy="3530800"/>
          </a:xfrm>
        </p:spPr>
        <p:txBody>
          <a:bodyPr>
            <a:noAutofit/>
          </a:bodyPr>
          <a:lstStyle/>
          <a:p>
            <a:r>
              <a:rPr lang="en-US" sz="2400" dirty="0"/>
              <a:t>Mental health issues are growing worldwide, </a:t>
            </a:r>
            <a:r>
              <a:rPr lang="en-US" sz="2400" dirty="0" err="1"/>
              <a:t>butreal</a:t>
            </a:r>
            <a:r>
              <a:rPr lang="en-US" sz="2400" dirty="0"/>
              <a:t>-time monitoring of patient emotions during therapy or online interactions is limited. Therapists, educators, and customer support professionals need tools to better understand user emotions beyond words</a:t>
            </a:r>
          </a:p>
        </p:txBody>
      </p:sp>
    </p:spTree>
    <p:extLst>
      <p:ext uri="{BB962C8B-B14F-4D97-AF65-F5344CB8AC3E}">
        <p14:creationId xmlns:p14="http://schemas.microsoft.com/office/powerpoint/2010/main" val="1954911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78ED5-CA3F-855C-EE26-D5BBB962A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GOAL &amp; SCOPE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395D2-7E22-C2B1-5C9A-127C4DB16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sng" dirty="0"/>
              <a:t>Goal</a:t>
            </a:r>
            <a:r>
              <a:rPr lang="en-IN" dirty="0"/>
              <a:t>:- </a:t>
            </a:r>
            <a:r>
              <a:rPr lang="en-US" dirty="0"/>
              <a:t>Develop an AI-powered system that combines facial expression recognition and speech sentiment analysis to detect and track emotions in real-time. The system provides analytics via a secure cloud dashboard for therapists and organizations.</a:t>
            </a:r>
          </a:p>
          <a:p>
            <a:endParaRPr lang="en-US" b="1" dirty="0"/>
          </a:p>
          <a:p>
            <a:r>
              <a:rPr lang="en-US" b="1" dirty="0"/>
              <a:t>Scope:</a:t>
            </a:r>
            <a:endParaRPr lang="en-US" dirty="0"/>
          </a:p>
          <a:p>
            <a:pPr lvl="1"/>
            <a:r>
              <a:rPr lang="en-US" b="1" i="1" u="sng" dirty="0"/>
              <a:t>In-scope</a:t>
            </a:r>
            <a:r>
              <a:rPr lang="en-US" i="1" dirty="0"/>
              <a:t>:</a:t>
            </a:r>
            <a:r>
              <a:rPr lang="en-US" dirty="0"/>
              <a:t> Emotion recognition (face + voice), multimodal fusion, cloud dashboard, alerts.</a:t>
            </a:r>
          </a:p>
          <a:p>
            <a:pPr lvl="1"/>
            <a:r>
              <a:rPr lang="en-US" b="1" i="1" u="sng" dirty="0"/>
              <a:t>Out-of-scope</a:t>
            </a:r>
            <a:r>
              <a:rPr lang="en-US" i="1" dirty="0"/>
              <a:t>:</a:t>
            </a:r>
            <a:r>
              <a:rPr lang="en-US" dirty="0"/>
              <a:t> Therapy recommendations, hospital-scale deployment.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6826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CB933-26B6-8B56-8609-6E1DDB384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051D30E-DA14-DEF1-98BF-544CBDF5C03C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25" r="511" b="162"/>
          <a:stretch>
            <a:fillRect/>
          </a:stretch>
        </p:blipFill>
        <p:spPr bwMode="auto">
          <a:xfrm>
            <a:off x="539827" y="228238"/>
            <a:ext cx="11347374" cy="6361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94B5D-C42E-4E5F-BE2B-3DE2A110C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-943360" y="5763407"/>
            <a:ext cx="527150" cy="95148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8367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E6740-CAD7-1B35-567B-2358D3E59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0466" y="218615"/>
            <a:ext cx="8596668" cy="1320800"/>
          </a:xfrm>
        </p:spPr>
        <p:txBody>
          <a:bodyPr/>
          <a:lstStyle/>
          <a:p>
            <a:pPr algn="ctr"/>
            <a:r>
              <a:rPr lang="en-US" dirty="0"/>
              <a:t>Workflow Diagram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E97FD7-73E9-CE68-503A-D87344718B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39415"/>
            <a:ext cx="10972800" cy="531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002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076AD-4B3D-A313-9D77-70DE4F813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Technical Approach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68DC56B-330E-8ABE-B796-E9CD7BD62B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39136"/>
            <a:ext cx="822539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 &amp; Preprocessing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Datasets: FER-2013 (faces), RAVDESS (voice)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Tools: OpenCV (face detection),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Librosa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(MFCC extraction), signal filtering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Development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CNN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Facial emotion recognition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1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D CNN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Voice-based emotion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Fusion Layer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Combine outputs for higher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Advanced Techniques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Multimodal Emotion Fusion (face + voice 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Emotion Trajectory Tracking (monitor trends over time)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Few-Shot Personalization (adapt to individual patterns)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Integration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 Flask for inference services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Database: SQL/MongoDB for emotion logs (encrypted)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Dashboard: React with charts, and reports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592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D481-3AC2-248D-CB67-9D7AD0596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Market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469A5-B08F-709C-AEE8-9553692A5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Mental Health Market Trends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Global mental health tech market projected to reach </a:t>
            </a:r>
            <a:r>
              <a:rPr lang="en-US" b="1" dirty="0"/>
              <a:t>$15B+ by 2030</a:t>
            </a:r>
            <a:r>
              <a:rPr lang="en-US" dirty="0"/>
              <a:t>.</a:t>
            </a:r>
          </a:p>
          <a:p>
            <a:r>
              <a:rPr lang="en-US" dirty="0"/>
              <a:t>Increased demand for </a:t>
            </a:r>
            <a:r>
              <a:rPr lang="en-US" b="1" dirty="0"/>
              <a:t>AI-powered emotional health tools</a:t>
            </a:r>
            <a:r>
              <a:rPr lang="en-US" dirty="0"/>
              <a:t> in therapy, education, and workplaces.</a:t>
            </a:r>
          </a:p>
          <a:p>
            <a:r>
              <a:rPr lang="en-US" dirty="0"/>
              <a:t>Rising adoption of </a:t>
            </a:r>
            <a:r>
              <a:rPr lang="en-US" b="1" dirty="0"/>
              <a:t>teletherapy &amp; digital well-being platforms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1682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05EBE-8B57-E612-42CD-1DC1BABF7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180" y="287983"/>
            <a:ext cx="8596668" cy="1320800"/>
          </a:xfrm>
        </p:spPr>
        <p:txBody>
          <a:bodyPr/>
          <a:lstStyle/>
          <a:p>
            <a:pPr algn="ctr"/>
            <a:r>
              <a:rPr lang="en-US" dirty="0"/>
              <a:t>Market Landscape and Competitive Differentiation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7672022-88AE-ABA4-CA99-4A89F2036A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0643247"/>
              </p:ext>
            </p:extLst>
          </p:nvPr>
        </p:nvGraphicFramePr>
        <p:xfrm>
          <a:off x="838200" y="1825625"/>
          <a:ext cx="103124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0">
                  <a:extLst>
                    <a:ext uri="{9D8B030D-6E8A-4147-A177-3AD203B41FA5}">
                      <a16:colId xmlns:a16="http://schemas.microsoft.com/office/drawing/2014/main" val="3603847669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437483584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3046069683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1288407888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1936105550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3998262359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10710670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Target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Key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Strengths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Weaknesses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Our Differentiator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758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Woebot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Mental Health Chatbot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General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Text-based CBT chatbot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Engaging chatbot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multi-modal emotion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Real-time facial &amp; voice emotion detection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700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Wysa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AI Companion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Students, Employees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Chat, journaling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Popular in 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Limited AI 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Real-time multimodal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630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Fitbit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Stress App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Fitness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HR-based stress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Hardware-backed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facial/voice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Multi-source fusion of face, voice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328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349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63FF5-B38E-2AC3-96C6-998C362A3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Uniqueness &amp; Innovation in Objectives &amp; Key 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A1AD9-F26F-CC61-C202-C9AED029C1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IN" sz="4500" b="1" dirty="0"/>
              <a:t>Unique Objectives</a:t>
            </a:r>
          </a:p>
          <a:p>
            <a:r>
              <a:rPr lang="en-IN" sz="3800" b="1" dirty="0"/>
              <a:t>Category-Specific Care</a:t>
            </a:r>
            <a:r>
              <a:rPr lang="en-IN" sz="3800" dirty="0"/>
              <a:t> →</a:t>
            </a:r>
          </a:p>
          <a:p>
            <a:pPr lvl="1"/>
            <a:r>
              <a:rPr lang="en-IN" sz="3800" i="1" dirty="0"/>
              <a:t>Normal users</a:t>
            </a:r>
            <a:r>
              <a:rPr lang="en-IN" sz="3800" dirty="0"/>
              <a:t>: Music/ambient soothing</a:t>
            </a:r>
          </a:p>
          <a:p>
            <a:pPr lvl="1"/>
            <a:r>
              <a:rPr lang="en-IN" sz="3800" i="1" dirty="0"/>
              <a:t>Moderate users</a:t>
            </a:r>
            <a:r>
              <a:rPr lang="en-IN" sz="3800" dirty="0"/>
              <a:t>: Depression tracking &amp; alerts</a:t>
            </a:r>
          </a:p>
          <a:p>
            <a:pPr lvl="1"/>
            <a:r>
              <a:rPr lang="en-IN" sz="3800" i="1" dirty="0"/>
              <a:t>Mentally ill</a:t>
            </a:r>
            <a:r>
              <a:rPr lang="en-IN" sz="3800" dirty="0"/>
              <a:t>: Clinically relevant reports &amp; caregiver dashboards</a:t>
            </a:r>
          </a:p>
          <a:p>
            <a:r>
              <a:rPr lang="en-IN" sz="3800" b="1" dirty="0"/>
              <a:t>Context-Aware Emotion AI</a:t>
            </a:r>
            <a:r>
              <a:rPr lang="en-IN" sz="3800" dirty="0"/>
              <a:t> → Includes time, environment &amp; personal routines</a:t>
            </a:r>
          </a:p>
          <a:p>
            <a:r>
              <a:rPr lang="en-IN" sz="3800" b="1" dirty="0"/>
              <a:t>Privacy-First Design</a:t>
            </a:r>
            <a:r>
              <a:rPr lang="en-IN" sz="3800" dirty="0"/>
              <a:t> → Edge inference, encrypted logs, consent-first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AA2D43-2216-9555-D81E-475AEA1D6AC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IN" sz="4500" b="1" dirty="0"/>
              <a:t>Innovative Key Features</a:t>
            </a:r>
          </a:p>
          <a:p>
            <a:r>
              <a:rPr lang="en-IN" sz="3400" b="1" dirty="0"/>
              <a:t>Multimodal Emotion Fusion</a:t>
            </a:r>
            <a:r>
              <a:rPr lang="en-IN" sz="3400" dirty="0"/>
              <a:t> → Combines 	face and voice emotions</a:t>
            </a:r>
          </a:p>
          <a:p>
            <a:r>
              <a:rPr lang="en-IN" sz="3400" b="1" dirty="0"/>
              <a:t>Real-Time Monitoring</a:t>
            </a:r>
            <a:r>
              <a:rPr lang="en-IN" sz="3400" dirty="0"/>
              <a:t> → ≤5s latency, works in therapy/education</a:t>
            </a:r>
          </a:p>
          <a:p>
            <a:r>
              <a:rPr lang="en-IN" sz="3400" b="1" dirty="0"/>
              <a:t>Emotion Trajectory Tracking</a:t>
            </a:r>
            <a:r>
              <a:rPr lang="en-IN" sz="3400" dirty="0"/>
              <a:t> → Detects long-term mood swings</a:t>
            </a:r>
          </a:p>
          <a:p>
            <a:r>
              <a:rPr lang="en-IN" sz="3400" b="1" dirty="0"/>
              <a:t>Few-Shot Personalization</a:t>
            </a:r>
            <a:r>
              <a:rPr lang="en-IN" sz="3400" dirty="0"/>
              <a:t> → Learns user 	patterns with minimal data</a:t>
            </a:r>
          </a:p>
          <a:p>
            <a:r>
              <a:rPr lang="en-IN" sz="3400" b="1" dirty="0"/>
              <a:t>Passive Intervention System</a:t>
            </a:r>
            <a:r>
              <a:rPr lang="en-IN" sz="3400" dirty="0"/>
              <a:t> → Music</a:t>
            </a:r>
          </a:p>
          <a:p>
            <a:r>
              <a:rPr lang="en-IN" sz="3400" b="1" dirty="0"/>
              <a:t>Clinically Relevant Insights</a:t>
            </a:r>
            <a:r>
              <a:rPr lang="en-IN" sz="3400" dirty="0"/>
              <a:t> → Stress index, 	anomaly detection, weekly reports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3288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83C43-E683-26B3-3DF9-592297BA0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Weekly 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A8431-0353-A2A4-28A0-EF9F7526F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FA9716-6D3E-6EE9-1BAE-E8F5FEB81F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848069"/>
              </p:ext>
            </p:extLst>
          </p:nvPr>
        </p:nvGraphicFramePr>
        <p:xfrm>
          <a:off x="838200" y="1825625"/>
          <a:ext cx="10515600" cy="466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3114">
                  <a:extLst>
                    <a:ext uri="{9D8B030D-6E8A-4147-A177-3AD203B41FA5}">
                      <a16:colId xmlns:a16="http://schemas.microsoft.com/office/drawing/2014/main" val="1276582707"/>
                    </a:ext>
                  </a:extLst>
                </a:gridCol>
                <a:gridCol w="5192486">
                  <a:extLst>
                    <a:ext uri="{9D8B030D-6E8A-4147-A177-3AD203B41FA5}">
                      <a16:colId xmlns:a16="http://schemas.microsoft.com/office/drawing/2014/main" val="124680549"/>
                    </a:ext>
                  </a:extLst>
                </a:gridCol>
              </a:tblGrid>
              <a:tr h="583406">
                <a:tc>
                  <a:txBody>
                    <a:bodyPr/>
                    <a:lstStyle/>
                    <a:p>
                      <a:r>
                        <a:rPr lang="en-IN" dirty="0"/>
                        <a:t>Week 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Requirements &amp; datasets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87942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r>
                        <a:rPr lang="en-IN" dirty="0"/>
                        <a:t>Week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Literature survey &amp; architecture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986968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r>
                        <a:rPr lang="en-IN" dirty="0"/>
                        <a:t>Week 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Facial emotion recognition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4984365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r>
                        <a:rPr lang="en-IN" dirty="0"/>
                        <a:t>Week 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Speech emotion recognition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494502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r>
                        <a:rPr lang="en-IN" dirty="0"/>
                        <a:t>Week 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Fusion model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830940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r>
                        <a:rPr lang="en-IN" dirty="0"/>
                        <a:t>Week 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Dashboard development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500447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r>
                        <a:rPr lang="en-IN" dirty="0"/>
                        <a:t>Week 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039401"/>
                  </a:ext>
                </a:extLst>
              </a:tr>
              <a:tr h="583406">
                <a:tc>
                  <a:txBody>
                    <a:bodyPr/>
                    <a:lstStyle/>
                    <a:p>
                      <a:r>
                        <a:rPr lang="en-IN" dirty="0"/>
                        <a:t>Week 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Deployment &amp; presentation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44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9082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C92B9-CE62-3CB5-BB6E-667CA90C0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Team contributions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DC430A7-C41D-D363-09DB-4D24ADF3FB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2303943"/>
              </p:ext>
            </p:extLst>
          </p:nvPr>
        </p:nvGraphicFramePr>
        <p:xfrm>
          <a:off x="847023" y="1825625"/>
          <a:ext cx="10506774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6376">
                  <a:extLst>
                    <a:ext uri="{9D8B030D-6E8A-4147-A177-3AD203B41FA5}">
                      <a16:colId xmlns:a16="http://schemas.microsoft.com/office/drawing/2014/main" val="157437853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65853906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173831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responsibility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69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Priyam Kumar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Lead/ML/DL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Architecture, coordination, tracking,</a:t>
                      </a:r>
                      <a:r>
                        <a:rPr lang="en-US" dirty="0"/>
                        <a:t> Facial &amp; speech model, Multimodal Fusion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874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Nakul Upadhyay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React 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790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Piyush Maurya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Cloud, DB, security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1686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0329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E2ACE-BA39-3708-0067-7D872206E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21972"/>
            <a:ext cx="10515600" cy="2536372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Thank you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3753367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180</TotalTime>
  <Words>558</Words>
  <Application>Microsoft Office PowerPoint</Application>
  <PresentationFormat>Widescreen</PresentationFormat>
  <Paragraphs>109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Trebuchet MS</vt:lpstr>
      <vt:lpstr>Wingdings 3</vt:lpstr>
      <vt:lpstr>Facet</vt:lpstr>
      <vt:lpstr>AI-Based Emotion Recognition &amp; Mental Health Monitoring</vt:lpstr>
      <vt:lpstr>  Problem statement</vt:lpstr>
      <vt:lpstr>GOAL &amp; SCOPE</vt:lpstr>
      <vt:lpstr>PowerPoint Presentation</vt:lpstr>
      <vt:lpstr>Workflow Diagram</vt:lpstr>
      <vt:lpstr>Technical Approach </vt:lpstr>
      <vt:lpstr>Market Analysis</vt:lpstr>
      <vt:lpstr>Market Landscape and Competitive Differentiation</vt:lpstr>
      <vt:lpstr>Uniqueness &amp; Innovation in Objectives &amp; Key Features</vt:lpstr>
      <vt:lpstr>Weekly Timeline</vt:lpstr>
      <vt:lpstr>Team contributions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NAKUL UPADHYAY</dc:creator>
  <cp:lastModifiedBy>Subh Saini</cp:lastModifiedBy>
  <cp:revision>6</cp:revision>
  <dcterms:created xsi:type="dcterms:W3CDTF">2025-09-05T16:26:35Z</dcterms:created>
  <dcterms:modified xsi:type="dcterms:W3CDTF">2025-11-05T18:56:54Z</dcterms:modified>
</cp:coreProperties>
</file>